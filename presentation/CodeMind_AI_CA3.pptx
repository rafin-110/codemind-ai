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Problem: AI writes code people accept without understanding. Code review is the gate, but it doesn't scale and beginners have no reviewer. Code is a good domain for agents because claims can be checked: parsed, diffed,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 with slide 3. Each existing tool fails in one way; our response to each is a concrete feature you will see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Agentic, not a chatbot: a planner builds a plan from what the repo contains, agents write structured results to shared state, the critic can send work back, and validation failure feeds the next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top to bottom: upload is checked, the original is frozen, the planner runs the agents over shared state. The only way to a changed file is the approval diamond, and changes go to a separate copy. Failed validation loops back to the improvement agent; after 2 retries it is BLOCKED. Full Mermaid diagram: docs/architecture.png.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 LIVE DEMO (see DEMO_SCRIPT.md). Backup: these are screenshots from a real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45s. Emphasise: no number is estimated; evidence files are in docs/test-evidence. Mention the Windows bug as proof the testing was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45s. Say the limitations plainly; the design keeps the guardrails when an LLM is added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in 15s and invite questions. Viva prep: presentation/VIVA_QA.md.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5B4FC"/>
                </a:solidFill>
                <a:latin typeface="Calibri"/>
              </a:rPr>
              <a:t>CA-3 · AGENTIC AI · DOMAIN: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CodeMind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E0E7FF"/>
                </a:solidFill>
                <a:latin typeface="Calibri"/>
              </a:rPr>
              <a:t>An agentic code review assistant for AI-generated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6766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problem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Students and “vibe coders” ship AI-generated code they did not write and do not fully understand.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It runs, so it gets accepted, but it hides boundary bugs, swallowed errors and security holes (eval, SQL injection, shell=True, hard-coded keys).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Code review is the normal quality gate, but it does not scale to this volume, and a beginner has no reviewer 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4290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23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356616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Why this domain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Code is verifiable: it can be parsed, diffed and tested.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So every claim the agents make can be backed by evidence, not just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EXISTING CHALLENGE →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41B2D"/>
                </a:solidFill>
                <a:latin typeface="Calibri"/>
              </a:rPr>
              <a:t>Review like a careful human reviewer, but prove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2/8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CodeMind AI · Agentic Code Review Assistant · CA-3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206240" cy="749808"/>
          </a:xfrm>
          <a:prstGeom prst="roundRect">
            <a:avLst>
              <a:gd name="adj" fmla="val 6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2410C"/>
                </a:solidFill>
                <a:latin typeface="Calibri"/>
              </a:rPr>
              <a:t>Linters give terse warnings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5B647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600200"/>
            <a:ext cx="6217920" cy="749808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783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F7B4F"/>
                </a:solidFill>
                <a:latin typeface="Calibri"/>
              </a:rPr>
              <a:t>Each finding has evidence (file + line), why, impact, fix and how it will be validated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96312"/>
            <a:ext cx="4206240" cy="749808"/>
          </a:xfrm>
          <a:prstGeom prst="roundRect">
            <a:avLst>
              <a:gd name="adj" fmla="val 6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2410C"/>
                </a:solidFill>
                <a:latin typeface="Calibri"/>
              </a:rPr>
              <a:t>Chat assistants rewrite whole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5B647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496312"/>
            <a:ext cx="6217920" cy="749808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6791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F7B4F"/>
                </a:solidFill>
                <a:latin typeface="Calibri"/>
              </a:rPr>
              <a:t>Minimal single-finding patch shown as a unified diff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92424"/>
            <a:ext cx="4206240" cy="749808"/>
          </a:xfrm>
          <a:prstGeom prst="roundRect">
            <a:avLst>
              <a:gd name="adj" fmla="val 6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7530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2410C"/>
                </a:solidFill>
                <a:latin typeface="Calibri"/>
              </a:rPr>
              <a:t>“Fixed” code is never proven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47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5B6478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3392424"/>
            <a:ext cx="6217920" cy="749808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357530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F7B4F"/>
                </a:solidFill>
                <a:latin typeface="Calibri"/>
              </a:rPr>
              <a:t>Real pytest run on an isolated copy; retry with a different strategy if it fails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88536"/>
            <a:ext cx="4206240" cy="749808"/>
          </a:xfrm>
          <a:prstGeom prst="roundRect">
            <a:avLst>
              <a:gd name="adj" fmla="val 6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7141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2410C"/>
                </a:solidFill>
                <a:latin typeface="Calibri"/>
              </a:rPr>
              <a:t>Tools act without consent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44398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5B6478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4288536"/>
            <a:ext cx="6217920" cy="749808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47141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F7B4F"/>
                </a:solidFill>
                <a:latin typeface="Calibri"/>
              </a:rPr>
              <a:t>Hard human approval bound to the exact patch hash; original never written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84648"/>
            <a:ext cx="4206240" cy="749808"/>
          </a:xfrm>
          <a:prstGeom prst="roundRect">
            <a:avLst>
              <a:gd name="adj" fmla="val 6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675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2410C"/>
                </a:solidFill>
                <a:latin typeface="Calibri"/>
              </a:rPr>
              <a:t>Only one answer offered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53400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5B6478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5184648"/>
            <a:ext cx="6217920" cy="749808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536752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F7B4F"/>
                </a:solidFill>
                <a:latin typeface="Calibri"/>
              </a:rPr>
              <a:t>Advisor compares alternatives and trade-offs, incl. “keep current approach”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Core loop:  ANALYZE → EXPLAIN WITH EVIDENCE → COMPARE → HUMAN APPROVAL → APPLY TO COPY → VALIDATE →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AGENT ROLES AND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41B2D"/>
                </a:solidFill>
                <a:latin typeface="Calibri"/>
              </a:rPr>
              <a:t>A planner and five agents share one typed workflow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3/8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CodeMind AI · Agentic Code Review Assistant · CA-3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6035040" cy="8686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7"/>
            <a:ext cx="5669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1 · Repository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669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41B2D"/>
                </a:solidFill>
                <a:latin typeface="Calibri"/>
              </a:rPr>
              <a:t>README, structure, entry points, dependencies, import graph, doc gaps, with line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6035040" cy="8686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24328"/>
            <a:ext cx="5669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2 · Bug &amp; Risk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5669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41B2D"/>
                </a:solidFill>
                <a:latin typeface="Calibri"/>
              </a:rPr>
              <a:t>Python AST rules R001–R009: division by zero, eval, SQL injection, shell=True, secrets, mutable defaults…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6035040" cy="8686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84448"/>
            <a:ext cx="5669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3 · Solution &amp; Architecture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5669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41B2D"/>
                </a:solidFill>
                <a:latin typeface="Calibri"/>
              </a:rPr>
              <a:t>Current approach vs alternatives and trade-offs; says when current code is fine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6035040" cy="8686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44568"/>
            <a:ext cx="5669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4 · Code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59"/>
            <a:ext cx="5669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41B2D"/>
                </a:solidFill>
                <a:latin typeface="Calibri"/>
              </a:rPr>
              <a:t>Minimal patch + diff, risks, suggested tests; picks a new strategy from test-failure feedback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94959"/>
            <a:ext cx="6035040" cy="86868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04688"/>
            <a:ext cx="5669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5 · Critic &amp;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79"/>
            <a:ext cx="5669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41B2D"/>
                </a:solidFill>
                <a:latin typeface="Calibri"/>
              </a:rPr>
              <a:t>Baseline tests on original, reviews every patch, then syntax + rule re-check + real pytest on a copy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554480"/>
            <a:ext cx="4663440" cy="470916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Planner / Orchestrator (state machine)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1031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RECEIVED → PLANNED → ANALYZING → FINDINGS_READY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→ PATCH_PROPOSED → critic review → AWAITING_APPROVAL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→ human approves → APPLYING (copy) → VALIDATING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→ VALIDATED  |  failed → retry new strategy (max 2) → BLOCKED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41B2D"/>
                </a:solidFill>
                <a:latin typeface="Calibri"/>
              </a:rPr>
              <a:t>Guarantees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• only path to applying a patch is human approval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• illegal transitions raise errors (tested)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• every transition logged with its reason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• plan adapts: no tests → baseline skipped; untrusted upload → tests not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COMPLETE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41B2D"/>
                </a:solidFill>
                <a:latin typeface="Calibri"/>
              </a:rPr>
              <a:t>From upload to verified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4/8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CodeMind AI · Agentic Code Review Assistant · CA-3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1371600" cy="685800"/>
          </a:xfrm>
          <a:prstGeom prst="roundRect">
            <a:avLst/>
          </a:prstGeom>
          <a:solidFill>
            <a:srgbClr val="FFF7E0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Developer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(human reviewer)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600200"/>
            <a:ext cx="1737360" cy="685800"/>
          </a:xfrm>
          <a:prstGeom prst="roundRect">
            <a:avLst/>
          </a:prstGeom>
          <a:solidFill>
            <a:srgbClr val="F3F4F8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Streamlit UI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7 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291840" cy="685800"/>
          </a:xfrm>
          <a:prstGeom prst="roundRect">
            <a:avLst/>
          </a:prstGeom>
          <a:solidFill>
            <a:srgbClr val="F3F4F8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Repository ingestion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unsafe ZIP (traversal, symlink, bomb) → 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00200"/>
            <a:ext cx="3611880" cy="685800"/>
          </a:xfrm>
          <a:prstGeom prst="roundRect">
            <a:avLst/>
          </a:prstGeom>
          <a:solidFill>
            <a:srgbClr val="E7F5EE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Original repo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read-only · hashed · never written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1943100"/>
            <a:ext cx="41148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77640" y="1943100"/>
            <a:ext cx="41148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80960" y="1943100"/>
            <a:ext cx="41148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2697480"/>
            <a:ext cx="6400800" cy="594360"/>
          </a:xfrm>
          <a:prstGeom prst="roundRect">
            <a:avLst/>
          </a:prstGeom>
          <a:solidFill>
            <a:srgbClr val="EEF0FF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>
                <a:solidFill>
                  <a:srgbClr val="4F46E5"/>
                </a:solidFill>
                <a:latin typeface="Calibri"/>
              </a:rPr>
              <a:t>Planner / Orchestrator · state machine · decision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697480"/>
            <a:ext cx="4526280" cy="594360"/>
          </a:xfrm>
          <a:prstGeom prst="roundRect">
            <a:avLst/>
          </a:prstGeom>
          <a:solidFill>
            <a:srgbClr val="EEF0FF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>
                <a:solidFill>
                  <a:srgbClr val="4F46E5"/>
                </a:solidFill>
                <a:latin typeface="Calibri"/>
              </a:rPr>
              <a:t>Shared structured findings &amp; workflow 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2994660"/>
            <a:ext cx="32004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3657600"/>
            <a:ext cx="1737360" cy="777240"/>
          </a:xfrm>
          <a:prstGeom prst="roundRect">
            <a:avLst/>
          </a:prstGeom>
          <a:solidFill>
            <a:srgbClr val="F3F4F8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A1 Repository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Understanding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3657600"/>
            <a:ext cx="1737360" cy="777240"/>
          </a:xfrm>
          <a:prstGeom prst="roundRect">
            <a:avLst/>
          </a:prstGeom>
          <a:solidFill>
            <a:srgbClr val="F3F4F8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A2 Bug &amp; Risk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AST rules R001–R009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657600"/>
            <a:ext cx="1737360" cy="777240"/>
          </a:xfrm>
          <a:prstGeom prst="roundRect">
            <a:avLst/>
          </a:prstGeom>
          <a:solidFill>
            <a:srgbClr val="F3F4F8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A5 Baseline tests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confirm findings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1737360" cy="777240"/>
          </a:xfrm>
          <a:prstGeom prst="roundRect">
            <a:avLst/>
          </a:prstGeom>
          <a:solidFill>
            <a:srgbClr val="F3F4F8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A3 Solution &amp;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Architecture Advisor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657600"/>
            <a:ext cx="1737360" cy="777240"/>
          </a:xfrm>
          <a:prstGeom prst="roundRect">
            <a:avLst/>
          </a:prstGeom>
          <a:solidFill>
            <a:srgbClr val="F3F4F8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A4 Code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Improvement (patch)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3657600"/>
            <a:ext cx="1645920" cy="777240"/>
          </a:xfrm>
          <a:prstGeom prst="roundRect">
            <a:avLst/>
          </a:prstGeom>
          <a:solidFill>
            <a:srgbClr val="F3F4F8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A5 Critic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scope · compile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94560" y="4046220"/>
            <a:ext cx="18288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14800" y="4046220"/>
            <a:ext cx="18288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35040" y="4046220"/>
            <a:ext cx="18288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55280" y="4046220"/>
            <a:ext cx="18288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4046220"/>
            <a:ext cx="18288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4800600"/>
            <a:ext cx="2651760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Tools: ast · difflib · compile()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pytest subprocess (timeout, env)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800600"/>
            <a:ext cx="1463040" cy="685800"/>
          </a:xfrm>
          <a:prstGeom prst="roundRect">
            <a:avLst/>
          </a:prstGeom>
          <a:solidFill>
            <a:srgbClr val="E7F5EE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Final report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JSON · Markdown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4800600"/>
            <a:ext cx="1828800" cy="685800"/>
          </a:xfrm>
          <a:prstGeom prst="roundRect">
            <a:avLst/>
          </a:prstGeom>
          <a:solidFill>
            <a:srgbClr val="F3F4F8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A5 Validate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syntax · re-check · 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4800600"/>
            <a:ext cx="1828800" cy="685800"/>
          </a:xfrm>
          <a:prstGeom prst="roundRect">
            <a:avLst/>
          </a:prstGeom>
          <a:solidFill>
            <a:srgbClr val="E7F5EE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141B2D"/>
                </a:solidFill>
                <a:latin typeface="Calibri"/>
              </a:rPr>
              <a:t>Isolated working copy</a:t>
            </a:r>
          </a:p>
          <a:p>
            <a:pPr algn="ctr"/>
            <a:r>
              <a:rPr sz="900" b="0">
                <a:solidFill>
                  <a:srgbClr val="141B2D"/>
                </a:solidFill>
                <a:latin typeface="Calibri"/>
              </a:rPr>
              <a:t>patch applied here only</a:t>
            </a:r>
          </a:p>
        </p:txBody>
      </p:sp>
      <p:sp>
        <p:nvSpPr>
          <p:cNvPr id="32" name="Diamond 31"/>
          <p:cNvSpPr/>
          <p:nvPr/>
        </p:nvSpPr>
        <p:spPr>
          <a:xfrm>
            <a:off x="9692640" y="4663440"/>
            <a:ext cx="2011680" cy="960120"/>
          </a:xfrm>
          <a:prstGeom prst="diamond">
            <a:avLst/>
          </a:prstGeom>
          <a:solidFill>
            <a:srgbClr val="FFF7E0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141B2D"/>
                </a:solidFill>
                <a:latin typeface="Calibri"/>
              </a:rPr>
              <a:t>Human approval</a:t>
            </a:r>
          </a:p>
          <a:p>
            <a:pPr algn="ctr"/>
            <a:r>
              <a:rPr sz="800" b="0">
                <a:solidFill>
                  <a:srgbClr val="141B2D"/>
                </a:solidFill>
                <a:latin typeface="Calibri"/>
              </a:rPr>
              <a:t>bound to patch hash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0698480" y="4434840"/>
            <a:ext cx="182880" cy="22860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058400" y="42748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5B6478"/>
                </a:solidFill>
                <a:latin typeface="Calibri"/>
              </a:rPr>
              <a:t>accepted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9418320" y="5143500"/>
            <a:ext cx="274320" cy="0"/>
          </a:xfrm>
          <a:prstGeom prst="line">
            <a:avLst/>
          </a:prstGeom>
          <a:ln w="19050">
            <a:solidFill>
              <a:srgbClr val="0F7B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823960" y="48691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7B4F"/>
                </a:solidFill>
                <a:latin typeface="Calibri"/>
              </a:rPr>
              <a:t>approve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7132320" y="5143500"/>
            <a:ext cx="457200" cy="0"/>
          </a:xfrm>
          <a:prstGeom prst="line">
            <a:avLst/>
          </a:prstGeom>
          <a:ln w="19050">
            <a:solidFill>
              <a:srgbClr val="5B64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846320" y="5143500"/>
            <a:ext cx="457200" cy="0"/>
          </a:xfrm>
          <a:prstGeom prst="line">
            <a:avLst/>
          </a:prstGeom>
          <a:ln w="19050">
            <a:solidFill>
              <a:srgbClr val="0F7B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343400" y="48691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7B4F"/>
                </a:solidFill>
                <a:latin typeface="Calibri"/>
              </a:rPr>
              <a:t>passed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6217920" y="4434840"/>
            <a:ext cx="2788920" cy="365760"/>
          </a:xfrm>
          <a:prstGeom prst="line">
            <a:avLst/>
          </a:prstGeom>
          <a:ln w="19050">
            <a:solidFill>
              <a:srgbClr val="C2410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80860" y="4343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C2410C"/>
                </a:solidFill>
                <a:latin typeface="Calibri"/>
              </a:rPr>
              <a:t>failed → retry (max 2)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5852160"/>
            <a:ext cx="1828800" cy="457200"/>
          </a:xfrm>
          <a:prstGeom prst="roundRect">
            <a:avLst/>
          </a:prstGeom>
          <a:solidFill>
            <a:srgbClr val="FDEEE6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C2410C"/>
                </a:solidFill>
                <a:latin typeface="Calibri"/>
              </a:rPr>
              <a:t>Reject → back to findings</a:t>
            </a:r>
          </a:p>
          <a:p>
            <a:pPr algn="ctr"/>
            <a:r>
              <a:rPr sz="800" b="0">
                <a:solidFill>
                  <a:srgbClr val="C2410C"/>
                </a:solidFill>
                <a:latin typeface="Calibri"/>
              </a:rPr>
              <a:t>original untouched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698480" y="5623560"/>
            <a:ext cx="0" cy="228600"/>
          </a:xfrm>
          <a:prstGeom prst="line">
            <a:avLst/>
          </a:prstGeom>
          <a:ln w="19050">
            <a:solidFill>
              <a:srgbClr val="C2410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349240" y="5852160"/>
            <a:ext cx="1737360" cy="457200"/>
          </a:xfrm>
          <a:prstGeom prst="roundRect">
            <a:avLst/>
          </a:prstGeom>
          <a:solidFill>
            <a:srgbClr val="FDEEE6"/>
          </a:solidFill>
          <a:ln>
            <a:solidFill>
              <a:srgbClr val="C7C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C2410C"/>
                </a:solidFill>
                <a:latin typeface="Calibri"/>
              </a:rPr>
              <a:t>BLOCKED → escalate</a:t>
            </a:r>
          </a:p>
          <a:p>
            <a:pPr algn="ctr"/>
            <a:r>
              <a:rPr sz="800" b="0">
                <a:solidFill>
                  <a:srgbClr val="C2410C"/>
                </a:solidFill>
                <a:latin typeface="Calibri"/>
              </a:rPr>
              <a:t>retries exhausted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17920" y="5486400"/>
            <a:ext cx="0" cy="365760"/>
          </a:xfrm>
          <a:prstGeom prst="line">
            <a:avLst/>
          </a:prstGeom>
          <a:ln w="19050">
            <a:solidFill>
              <a:srgbClr val="C2410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WORKING STREAMLIT POC (SYNTHETIC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41B2D"/>
                </a:solidFill>
                <a:latin typeface="Calibri"/>
              </a:rPr>
              <a:t>Demo: confirmed bug → failed fix → retry →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5/8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CodeMind AI · Agentic Code Review Assistant · CA-3</a:t>
            </a:r>
          </a:p>
        </p:txBody>
      </p:sp>
      <p:pic>
        <p:nvPicPr>
          <p:cNvPr id="7" name="Picture 6" descr="06_findings_F004_confir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486400" cy="3429000"/>
          </a:xfrm>
          <a:prstGeom prst="rect">
            <a:avLst/>
          </a:prstGeom>
        </p:spPr>
      </p:pic>
      <p:pic>
        <p:nvPicPr>
          <p:cNvPr id="8" name="Picture 7" descr="11_F004_attempt2_after_failed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54480"/>
            <a:ext cx="54864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074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478"/>
                </a:solidFill>
                <a:latin typeface="Calibri"/>
              </a:rPr>
              <a:t>F-004 division by zero is Confirmed: the sample's own test fails on that exact line in the baseline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5074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478"/>
                </a:solidFill>
                <a:latin typeface="Calibri"/>
              </a:rPr>
              <a:t>Attempt 1 (return 0.0) failed a real test, so the agent proposes “Raise ValueError”. Approved → 9/9 tests pass, original unchanged.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OUTPUT VALIDATION AND ACTUAL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41B2D"/>
                </a:solidFill>
                <a:latin typeface="Calibri"/>
              </a:rPr>
              <a:t>Every number below is from a real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6/8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CodeMind AI · Agentic Code Review Assistant · CA-3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97480" cy="16002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4F46E5"/>
                </a:solidFill>
                <a:latin typeface="Calibri"/>
              </a:rPr>
              <a:t>105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41B2D"/>
                </a:solidFill>
                <a:latin typeface="Calibri"/>
              </a:rPr>
              <a:t>automated tests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Windows 11, Python 3.13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600200"/>
            <a:ext cx="2697480" cy="16002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4F46E5"/>
                </a:solidFill>
                <a:latin typeface="Calibri"/>
              </a:rPr>
              <a:t>9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41B2D"/>
                </a:solidFill>
                <a:latin typeface="Calibri"/>
              </a:rPr>
              <a:t>planted issues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exact rule+file+line, 0 extra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697480" cy="16002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4F46E5"/>
                </a:solidFill>
                <a:latin typeface="Calibri"/>
              </a:rPr>
              <a:t>8 /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41B2D"/>
                </a:solidFill>
                <a:latin typeface="Calibri"/>
              </a:rPr>
              <a:t>fixes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7 first try, 1 after retry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600200"/>
            <a:ext cx="2697480" cy="16002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4F46E5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41B2D"/>
                </a:solidFill>
                <a:latin typeface="Calibri"/>
              </a:rPr>
              <a:t>originals modified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788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re-hashed after every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41B2D"/>
                </a:solidFill>
                <a:latin typeface="Calibri"/>
              </a:rPr>
              <a:t>How results are validated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• statuses: Passed / Failed / Not run / Blocked / Partially verified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• pass = compiles + rule no longer matches + no regressions vs baseline + linked tests pass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• browser end-to-end run in real Chrome with assertions on the downloaded report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• fresh install from requirements.txt: 104 passed, 1 optional skip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41B2D"/>
                </a:solidFill>
                <a:latin typeface="Calibri"/>
              </a:rPr>
              <a:t>Found and fixed in testing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First Windows run: 4 tests failed. Pytest prints grades\stats.py on Windows, so the bug was not linked to its failing test. Fixed (one line) + regression test. Linux runs could not have caught it.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41B2D"/>
                </a:solidFill>
                <a:latin typeface="Calibri"/>
              </a:rPr>
              <a:t>Honest caveat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B2D"/>
                </a:solidFill>
                <a:latin typeface="Calibri"/>
              </a:rPr>
              <a:t>9/9 is on our synthetic sample, so it shows the rules work as designed, not real-world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41B2D"/>
                </a:solidFill>
                <a:latin typeface="Calibri"/>
              </a:rPr>
              <a:t>What it cannot do yet, and where it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7/8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CodeMind AI · Agentic Code Review Assistant · CA-3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9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2410C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9 deterministic rules, Python only; no cross-function data flow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fix templates for 8 rules; R008 has no auto-fix by design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explanations from a knowledge base (labelled Mock LLM); Ollama optional, only rewords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tests run in a subprocess, not a security sandbox; Windows enforces only a timeout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validation is only as good as the repo's own tests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single user, no database, no GitHub URL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09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F7B4F"/>
                </a:solidFill>
                <a:latin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LLM reviewer for fixes beyond templates, kept behind the same critic + approval + test gates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Pull-request integration: comment on changed lines, suggest patches, never push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Container / microVM sandbox for safe testing of any upload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Bandit, Semgrep, Ruff, ESLint as tools for the risk agent; more languages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Propose a failing test first when the repo has none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1B2D"/>
                </a:solidFill>
                <a:latin typeface="Calibri"/>
              </a:rPr>
              <a:t>• Evaluate on real labelled bug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41B2D"/>
                </a:solidFill>
                <a:latin typeface="Calibri"/>
              </a:rPr>
              <a:t>Understand → evidence → compare → approve →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8/8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Calibri"/>
              </a:rPr>
              <a:t>CodeMind AI · Agentic Code Review Assistant · CA-3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41B2D"/>
                </a:solidFill>
                <a:latin typeface="Calibri"/>
              </a:rPr>
              <a:t>• Agentic code review with a planner, five agents, a critic loop and bounded retries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41B2D"/>
                </a:solidFill>
                <a:latin typeface="Calibri"/>
              </a:rPr>
              <a:t>• Every finding cites real lines; confirmed findings are reproduced by a real test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41B2D"/>
                </a:solidFill>
                <a:latin typeface="Calibri"/>
              </a:rPr>
              <a:t>• Nothing changes without the developer's approval of the exact patch, and the original is never touched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41B2D"/>
                </a:solidFill>
                <a:latin typeface="Calibri"/>
              </a:rPr>
              <a:t>• Fixes are proven by real test runs, and failures are reported, not hidden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41B2D"/>
                </a:solidFill>
                <a:latin typeface="Calibri"/>
              </a:rPr>
              <a:t>• Fully offline, no paid API: Python, Streamlit, ast, pytest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4F46E5"/>
                </a:solidFill>
                <a:latin typeface="Calibri"/>
              </a:rPr>
              <a:t>Thank you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